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0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645920"/>
            <a:ext cx="5790895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DAA520"/>
                </a:solidFill>
                <a:latin typeface="Calibri"/>
              </a:defRPr>
            </a:pPr>
            <a:r>
              <a:t>ALL IN WITH LOVE  •  WEEK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828800"/>
            <a:ext cx="5790895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359"/>
              </a:lnSpc>
              <a:spcBef>
                <a:spcPts val="0"/>
              </a:spcBef>
              <a:spcAft>
                <a:spcPts val="0"/>
              </a:spcAft>
              <a:defRPr sz="6400" b="1" i="0">
                <a:solidFill>
                  <a:srgbClr val="FFF8F0"/>
                </a:solidFill>
                <a:latin typeface="Georgia"/>
              </a:defRPr>
            </a:pPr>
            <a:r>
              <a:t>The Cross That</a:t>
            </a:r>
            <a:br/>
            <a:r>
              <a:t>Shows Love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 i="1">
                <a:solidFill>
                  <a:srgbClr val="FFEBB4"/>
                </a:solidFill>
                <a:latin typeface="Georgia"/>
              </a:defRPr>
            </a:pPr>
            <a:r>
              <a:t>Philippians 2:5–8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120640"/>
            <a:ext cx="2133295" cy="1905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D764"/>
                </a:solidFill>
                <a:latin typeface="Calibri"/>
              </a:defRPr>
            </a:pPr>
            <a:r>
              <a:t>Pembroke Park Church of Christ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cross_mind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300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SECTION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8F0"/>
                </a:solidFill>
                <a:latin typeface="Georgia"/>
              </a:defRPr>
            </a:pPr>
            <a:r>
              <a:t>The Mindset of Christ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01168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3774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FFEBB4"/>
                </a:solidFill>
                <a:latin typeface="Georgia"/>
              </a:defRPr>
            </a:pPr>
            <a:r>
              <a:t>“Have this mind among yourselves,</a:t>
            </a:r>
            <a:br/>
            <a:r>
              <a:t>which is yours in Christ Jesus…”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999999"/>
                </a:solidFill>
                <a:latin typeface="Calibri"/>
              </a:defRPr>
            </a:pPr>
            <a:r>
              <a:t>— Philippians 2:5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1" i="0">
                <a:solidFill>
                  <a:srgbClr val="DAA520"/>
                </a:solidFill>
                <a:latin typeface="Calibri"/>
              </a:defRPr>
            </a:pPr>
            <a:r>
              <a:t>The Contrast: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0" i="0">
                <a:solidFill>
                  <a:srgbClr val="FFF8F0"/>
                </a:solidFill>
                <a:latin typeface="Calibri"/>
              </a:defRPr>
            </a:pPr>
            <a:r>
              <a:t>The World says: “Climb UP”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200" b="1" i="0">
                <a:solidFill>
                  <a:srgbClr val="FFD764"/>
                </a:solidFill>
                <a:latin typeface="Calibri"/>
              </a:defRPr>
            </a:pPr>
            <a:r>
              <a:t>Christ says: “Descend DOWN”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669280"/>
            <a:ext cx="5029200" cy="64008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715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 i="1">
                <a:solidFill>
                  <a:srgbClr val="FFEBB4"/>
                </a:solidFill>
                <a:latin typeface="Georgia"/>
              </a:defRPr>
            </a:pPr>
            <a:r>
              <a:t>phronēte (φρονεῖτε)  —  "set your mind on"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3_incarn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300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SECTION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4000" b="1" i="0">
                <a:solidFill>
                  <a:srgbClr val="FFF8F0"/>
                </a:solidFill>
                <a:latin typeface="Georgia"/>
              </a:defRPr>
            </a:pPr>
            <a:r>
              <a:t>God With Us—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D764"/>
                </a:solidFill>
                <a:latin typeface="Georgia"/>
              </a:defRPr>
            </a:pPr>
            <a:r>
              <a:t>The Incarnation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28600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651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“Form of God” (morphē)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900" b="0" i="0">
                <a:solidFill>
                  <a:srgbClr val="FFF5E6"/>
                </a:solidFill>
                <a:latin typeface="Calibri"/>
              </a:defRPr>
            </a:pPr>
            <a:r>
              <a:t>Essential divine nature (v. 6)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Did not grasp equality with God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900" b="0" i="0">
                <a:solidFill>
                  <a:srgbClr val="FFF5E6"/>
                </a:solidFill>
                <a:latin typeface="Calibri"/>
              </a:defRPr>
            </a:pPr>
            <a:r>
              <a:t>Refused to cling to divine privileges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The Infinite became Finite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900" b="0" i="0">
                <a:solidFill>
                  <a:srgbClr val="FFF5E6"/>
                </a:solidFill>
                <a:latin typeface="Calibri"/>
              </a:defRPr>
            </a:pPr>
            <a:r>
              <a:t>Complete identification with humanity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5303520"/>
            <a:ext cx="5029200" cy="82296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5394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 i="1">
                <a:solidFill>
                  <a:srgbClr val="FFEBB4"/>
                </a:solidFill>
                <a:latin typeface="Georgia"/>
              </a:defRPr>
            </a:pPr>
            <a:r>
              <a:t>The Creator entered His own creation—</a:t>
            </a:r>
            <a:br/>
            <a:r>
              <a:t>complete identification with humanity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4_empty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4B1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SECTION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8F0"/>
                </a:solidFill>
                <a:latin typeface="Georgia"/>
              </a:defRPr>
            </a:pPr>
            <a:r>
              <a:t>He Emptied Himself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92024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194560"/>
            <a:ext cx="5029200" cy="73152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240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800" b="1" i="0">
                <a:solidFill>
                  <a:srgbClr val="FFD764"/>
                </a:solidFill>
                <a:latin typeface="Georgia"/>
              </a:defRPr>
            </a:pPr>
            <a:r>
              <a:t>KENŌSIS (κένωσις)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Greek: self-emptying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2200" b="0" i="0">
                <a:solidFill>
                  <a:srgbClr val="FFF8F0"/>
                </a:solidFill>
                <a:latin typeface="Calibri"/>
              </a:defRPr>
            </a:pPr>
            <a:r>
              <a:t>▼  Gave up privileges of deity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2200" b="0" i="0">
                <a:solidFill>
                  <a:srgbClr val="FFF8F0"/>
                </a:solidFill>
                <a:latin typeface="Calibri"/>
              </a:defRPr>
            </a:pPr>
            <a:r>
              <a:t>▼  Took form of a servant (doulos)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2200" b="0" i="0">
                <a:solidFill>
                  <a:srgbClr val="FFF8F0"/>
                </a:solidFill>
                <a:latin typeface="Calibri"/>
              </a:defRPr>
            </a:pPr>
            <a:r>
              <a:t>▼  Born in likeness of 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303520"/>
            <a:ext cx="5029200" cy="822960"/>
          </a:xfrm>
          <a:prstGeom prst="rect">
            <a:avLst/>
          </a:prstGeom>
          <a:solidFill>
            <a:srgbClr val="300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394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 i="1">
                <a:solidFill>
                  <a:srgbClr val="FFEBB4"/>
                </a:solidFill>
                <a:latin typeface="Georgia"/>
              </a:defRPr>
            </a:pPr>
            <a:r>
              <a:t>“Not emptying deity,</a:t>
            </a:r>
            <a:br/>
            <a:r>
              <a:t>but the privileges of deity”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5_hum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SECTION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8F0"/>
                </a:solidFill>
                <a:latin typeface="Georgia"/>
              </a:defRPr>
            </a:pPr>
            <a:r>
              <a:t>He Humbled Himself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92024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194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1">
                <a:solidFill>
                  <a:srgbClr val="FFD764"/>
                </a:solidFill>
                <a:latin typeface="Georgia"/>
              </a:defRPr>
            </a:pPr>
            <a:r>
              <a:t>Active Humility, Not Passive Humiliation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“Humbled himself”</a:t>
            </a:r>
          </a:p>
          <a:p>
            <a:pPr algn="l">
              <a:spcBef>
                <a:spcPts val="0"/>
              </a:spcBef>
              <a:spcAft>
                <a:spcPts val="1800"/>
              </a:spcAft>
              <a:defRPr sz="2000" b="0" i="0">
                <a:solidFill>
                  <a:srgbClr val="FFF5E6"/>
                </a:solidFill>
                <a:latin typeface="Calibri"/>
              </a:defRPr>
            </a:pPr>
            <a:r>
              <a:t>He CHOSE this path (v. 8a)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Found in human form</a:t>
            </a:r>
          </a:p>
          <a:p>
            <a:pPr algn="l">
              <a:spcBef>
                <a:spcPts val="0"/>
              </a:spcBef>
              <a:spcAft>
                <a:spcPts val="1800"/>
              </a:spcAft>
              <a:defRPr sz="2000" b="0" i="0">
                <a:solidFill>
                  <a:srgbClr val="FFF5E6"/>
                </a:solidFill>
                <a:latin typeface="Calibri"/>
              </a:defRPr>
            </a:pPr>
            <a:r>
              <a:t>No special recognition or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5029200"/>
            <a:ext cx="5029200" cy="1097280"/>
          </a:xfrm>
          <a:prstGeom prst="rect">
            <a:avLst/>
          </a:prstGeom>
          <a:solidFill>
            <a:srgbClr val="300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51206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 i="1">
                <a:solidFill>
                  <a:srgbClr val="FFEBB4"/>
                </a:solidFill>
                <a:latin typeface="Georgia"/>
              </a:defRPr>
            </a:pPr>
            <a:r>
              <a:t>“He had no form or majesty that we should</a:t>
            </a:r>
            <a:br/>
            <a:r>
              <a:t>look at him, and no beauty that we should</a:t>
            </a:r>
            <a:br/>
            <a:r>
              <a:t>desire him.”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1">
                <a:solidFill>
                  <a:srgbClr val="999999"/>
                </a:solidFill>
                <a:latin typeface="Calibri"/>
              </a:defRPr>
            </a:pPr>
            <a:r>
              <a:t>— Isaiah 53:2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6_cross_de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0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00020"/>
                </a:solidFill>
                <a:latin typeface="Calibri"/>
              </a:defRPr>
            </a:pPr>
            <a:r>
              <a:t>SECTION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8F0"/>
                </a:solidFill>
                <a:latin typeface="Georgia"/>
              </a:defRPr>
            </a:pPr>
            <a:r>
              <a:t>Obedient to Death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920240"/>
            <a:ext cx="2743200" cy="254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194560"/>
            <a:ext cx="5029200" cy="73152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1">
                <a:solidFill>
                  <a:srgbClr val="FFEBB4"/>
                </a:solidFill>
                <a:latin typeface="Georgia"/>
              </a:defRPr>
            </a:pPr>
            <a:r>
              <a:t>“Even death on a cross”  —  v. 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Most Shameful Death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0" i="0">
                <a:solidFill>
                  <a:srgbClr val="FFF5E6"/>
                </a:solidFill>
                <a:latin typeface="Calibri"/>
              </a:defRPr>
            </a:pPr>
            <a:r>
              <a:t>Reserved for slaves and criminals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Most Painful Death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0" i="0">
                <a:solidFill>
                  <a:srgbClr val="FFF5E6"/>
                </a:solidFill>
                <a:latin typeface="Calibri"/>
              </a:defRPr>
            </a:pPr>
            <a:r>
              <a:t>Designed for maximum suffering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Cursed by God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800" b="0" i="1">
                <a:solidFill>
                  <a:srgbClr val="FFF5E6"/>
                </a:solidFill>
                <a:latin typeface="Calibri"/>
              </a:defRPr>
            </a:pPr>
            <a:r>
              <a:t>Deuteronomy 21:23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669280"/>
            <a:ext cx="5029200" cy="6400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760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1">
                <a:solidFill>
                  <a:srgbClr val="FFF8F0"/>
                </a:solidFill>
                <a:latin typeface="Georgia"/>
              </a:defRPr>
            </a:pPr>
            <a:r>
              <a:t>Love’s descent to the absolute bottom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7_desc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868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8F0"/>
                </a:solidFill>
                <a:latin typeface="Georgia"/>
              </a:defRPr>
            </a:pPr>
            <a:r>
              <a:t>The Five Descending</a:t>
            </a:r>
            <a:br/>
            <a:r>
              <a:t>Movements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01168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0" y="2377440"/>
            <a:ext cx="411480" cy="411480"/>
          </a:xfrm>
          <a:prstGeom prst="ellipse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0A14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The Mindset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Chose to think differently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Oval 10"/>
          <p:cNvSpPr/>
          <p:nvPr/>
        </p:nvSpPr>
        <p:spPr>
          <a:xfrm>
            <a:off x="6080760" y="3200400"/>
            <a:ext cx="411480" cy="411480"/>
          </a:xfrm>
          <a:prstGeom prst="ellipse">
            <a:avLst/>
          </a:prstGeom>
          <a:solidFill>
            <a:srgbClr val="C3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0A14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God With 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The Incarnation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508" y="3611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023360"/>
            <a:ext cx="411480" cy="411480"/>
          </a:xfrm>
          <a:prstGeom prst="ellipse">
            <a:avLst/>
          </a:prstGeom>
          <a:solidFill>
            <a:srgbClr val="AD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0A14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Self-Emptying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Became a servant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7668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4846320"/>
            <a:ext cx="411480" cy="411480"/>
          </a:xfrm>
          <a:prstGeom prst="ellipse">
            <a:avLst/>
          </a:prstGeom>
          <a:solidFill>
            <a:srgbClr val="964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0A14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Humbling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Chose the lower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828" y="5257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AA52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5669280"/>
            <a:ext cx="411480" cy="411480"/>
          </a:xfrm>
          <a:prstGeom prst="ellipse">
            <a:avLst/>
          </a:prstGeom>
          <a:solidFill>
            <a:srgbClr val="80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0F0A14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Obedience unto Death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Even the cross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8_serving_h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8F0"/>
                </a:solidFill>
                <a:latin typeface="Georgia"/>
              </a:defRPr>
            </a:pPr>
            <a:r>
              <a:t>The Pattern for</a:t>
            </a:r>
            <a:br/>
            <a:r>
              <a:t>Our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9456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FFEBB4"/>
                </a:solidFill>
                <a:latin typeface="Georgia"/>
              </a:defRPr>
            </a:pPr>
            <a:r>
              <a:t>You cannot be “all in” with love while holding back from the downward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657600"/>
            <a:ext cx="5029200" cy="54864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703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8F0"/>
                </a:solidFill>
                <a:latin typeface="Georgia"/>
              </a:defRPr>
            </a:pPr>
            <a:r>
              <a:t>The cross is our pattern for 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 i="0">
                <a:solidFill>
                  <a:srgbClr val="FFD764"/>
                </a:solidFill>
                <a:latin typeface="Calibri"/>
              </a:defRPr>
            </a:pPr>
            <a:r>
              <a:t>‣  Serve others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Follow Christ’s example of humble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 i="0">
                <a:solidFill>
                  <a:srgbClr val="FFD764"/>
                </a:solidFill>
                <a:latin typeface="Calibri"/>
              </a:defRPr>
            </a:pPr>
            <a:r>
              <a:t>‣  Give up rights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Release what you’re entitled to for others’ sake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852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 i="0">
                <a:solidFill>
                  <a:srgbClr val="FFD764"/>
                </a:solidFill>
                <a:latin typeface="Calibri"/>
              </a:defRPr>
            </a:pPr>
            <a:r>
              <a:t>‣  Choose humility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 i="1">
                <a:solidFill>
                  <a:srgbClr val="FFF5E6"/>
                </a:solidFill>
                <a:latin typeface="Calibri"/>
              </a:defRPr>
            </a:pPr>
            <a:r>
              <a:t>Actively take the lower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9_contempla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300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50800" cy="6858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AA520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8F0"/>
                </a:solidFill>
                <a:latin typeface="Georgia"/>
              </a:defRPr>
            </a:pPr>
            <a:r>
              <a:t>This Week’s</a:t>
            </a:r>
            <a:br/>
            <a:r>
              <a:t>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194560"/>
            <a:ext cx="2743200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2651760"/>
            <a:ext cx="5029200" cy="1097280"/>
          </a:xfrm>
          <a:prstGeom prst="rect">
            <a:avLst/>
          </a:prstGeom>
          <a:solidFill>
            <a:srgbClr val="50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743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DAA520"/>
                </a:solidFill>
                <a:latin typeface="Calibri"/>
              </a:defRPr>
            </a:pPr>
            <a:r>
              <a:t>IDENTIFY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FFF8F0"/>
                </a:solidFill>
                <a:latin typeface="Georgia"/>
              </a:defRPr>
            </a:pPr>
            <a:r>
              <a:t>one area where you’re clinging</a:t>
            </a:r>
            <a:br/>
            <a:r>
              <a:t>to privilege or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023360"/>
            <a:ext cx="5029200" cy="914400"/>
          </a:xfrm>
          <a:prstGeom prst="rect">
            <a:avLst/>
          </a:prstGeom>
          <a:solidFill>
            <a:srgbClr val="4B1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114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DAA520"/>
                </a:solidFill>
                <a:latin typeface="Calibri"/>
              </a:defRPr>
            </a:pPr>
            <a:r>
              <a:t>THEN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D764"/>
                </a:solidFill>
                <a:latin typeface="Georgia"/>
              </a:defRPr>
            </a:pPr>
            <a:r>
              <a:t>Take one step DOWN 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1">
                <a:solidFill>
                  <a:srgbClr val="FFF8F0"/>
                </a:solidFill>
                <a:latin typeface="Georgia"/>
              </a:defRPr>
            </a:pPr>
            <a:r>
              <a:t>Where are you</a:t>
            </a:r>
            <a:br/>
            <a:r>
              <a:t>holding back?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0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999999"/>
                </a:solidFill>
                <a:latin typeface="Calibri"/>
              </a:defRPr>
            </a:pPr>
            <a:r>
              <a:t>THE WORLD SAYS: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400" b="0" i="1">
                <a:solidFill>
                  <a:srgbClr val="CCCCCC"/>
                </a:solidFill>
                <a:latin typeface="Georgia"/>
              </a:defRPr>
            </a:pPr>
            <a:r>
              <a:t>Look out for yourself.  Climb the ladder.  Protect your rights.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103120"/>
            <a:ext cx="2133295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965960"/>
            <a:ext cx="1584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AA52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DAA520"/>
                </a:solidFill>
                <a:latin typeface="Calibri"/>
              </a:defRPr>
            </a:pPr>
            <a:r>
              <a:t>THE CROSS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 i="1">
                <a:solidFill>
                  <a:srgbClr val="FFF8F0"/>
                </a:solidFill>
                <a:latin typeface="Georgia"/>
              </a:defRPr>
            </a:pPr>
            <a:r>
              <a:t>Give yourself away.  Descend to serve.  Renounce your rights.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931920"/>
            <a:ext cx="2133295" cy="25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794760"/>
            <a:ext cx="1584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DAA52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976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 i="1">
                <a:solidFill>
                  <a:srgbClr val="FFEBB4"/>
                </a:solidFill>
                <a:latin typeface="Georgia"/>
              </a:defRPr>
            </a:pPr>
            <a:r>
              <a:t>These are opposite paths.</a:t>
            </a:r>
            <a:br/>
            <a:r>
              <a:t>You cannot walk both.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303520"/>
            <a:ext cx="6705295" cy="9144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5394960"/>
            <a:ext cx="6339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8F0"/>
                </a:solidFill>
                <a:latin typeface="Georgia"/>
              </a:defRPr>
            </a:pPr>
            <a:r>
              <a:t>Choose the way of the cross.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